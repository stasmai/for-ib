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35" autoAdjust="0"/>
    <p:restoredTop sz="94660"/>
  </p:normalViewPr>
  <p:slideViewPr>
    <p:cSldViewPr snapToGrid="0">
      <p:cViewPr>
        <p:scale>
          <a:sx n="66" d="100"/>
          <a:sy n="66" d="100"/>
        </p:scale>
        <p:origin x="1699" y="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22587-1668-4CE3-B453-BD1EAA03448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7B697-1FA5-4478-931A-726A7F731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535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22587-1668-4CE3-B453-BD1EAA03448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7B697-1FA5-4478-931A-726A7F731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5402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22587-1668-4CE3-B453-BD1EAA03448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7B697-1FA5-4478-931A-726A7F731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2464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22587-1668-4CE3-B453-BD1EAA03448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7B697-1FA5-4478-931A-726A7F731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1471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22587-1668-4CE3-B453-BD1EAA03448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7B697-1FA5-4478-931A-726A7F731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8781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22587-1668-4CE3-B453-BD1EAA03448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7B697-1FA5-4478-931A-726A7F731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791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22587-1668-4CE3-B453-BD1EAA03448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7B697-1FA5-4478-931A-726A7F731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901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22587-1668-4CE3-B453-BD1EAA03448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7B697-1FA5-4478-931A-726A7F731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416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22587-1668-4CE3-B453-BD1EAA03448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7B697-1FA5-4478-931A-726A7F731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205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22587-1668-4CE3-B453-BD1EAA03448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7B697-1FA5-4478-931A-726A7F731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1835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22587-1668-4CE3-B453-BD1EAA03448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7B697-1FA5-4478-931A-726A7F731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608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64000">
              <a:srgbClr val="FFFF00"/>
            </a:gs>
            <a:gs pos="90000">
              <a:schemeClr val="accent4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22587-1668-4CE3-B453-BD1EAA03448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7B697-1FA5-4478-931A-726A7F731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73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itwarden.com/" TargetMode="External"/><Relationship Id="rId7" Type="http://schemas.openxmlformats.org/officeDocument/2006/relationships/hyperlink" Target="https://cybernews.com/personal-data-leak-check/" TargetMode="External"/><Relationship Id="rId2" Type="http://schemas.openxmlformats.org/officeDocument/2006/relationships/hyperlink" Target="https://1password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aveibeenpwned.com/" TargetMode="External"/><Relationship Id="rId5" Type="http://schemas.openxmlformats.org/officeDocument/2006/relationships/hyperlink" Target="https://www.kaspersky.ru/downloads/thank-you/free-virus-removal-tool" TargetMode="External"/><Relationship Id="rId4" Type="http://schemas.openxmlformats.org/officeDocument/2006/relationships/hyperlink" Target="https://www.eset.com/int/home/online-scanner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thecode.media/veb-proekt-delaem-brauzernuyu-igru-s-dinozavrikom-kak-v-chrome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plusworld.ru/articles/63698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770517"/>
              </p:ext>
            </p:extLst>
          </p:nvPr>
        </p:nvGraphicFramePr>
        <p:xfrm>
          <a:off x="391886" y="200298"/>
          <a:ext cx="11425645" cy="6156960"/>
        </p:xfrm>
        <a:graphic>
          <a:graphicData uri="http://schemas.openxmlformats.org/drawingml/2006/table">
            <a:tbl>
              <a:tblPr/>
              <a:tblGrid>
                <a:gridCol w="11425645">
                  <a:extLst>
                    <a:ext uri="{9D8B030D-6E8A-4147-A177-3AD203B41FA5}">
                      <a16:colId xmlns:a16="http://schemas.microsoft.com/office/drawing/2014/main" val="3289773639"/>
                    </a:ext>
                  </a:extLst>
                </a:gridCol>
              </a:tblGrid>
              <a:tr h="6156960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rgbClr val="F26C4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ФИШИНГ, КАК ПРОБЛЕМА ДЛЯ СПЕЦИАЛИСТОВ ОТДЕЛА ИБ</a:t>
                      </a:r>
                    </a:p>
                  </a:txBody>
                  <a:tcPr marL="22860" marR="2286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rgbClr val="92D050"/>
                        </a:gs>
                        <a:gs pos="64000">
                          <a:srgbClr val="FFFF00"/>
                        </a:gs>
                        <a:gs pos="90000">
                          <a:schemeClr val="accent4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52016770"/>
                  </a:ext>
                </a:extLst>
              </a:tr>
            </a:tbl>
          </a:graphicData>
        </a:graphic>
      </p:graphicFrame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1384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302414"/>
          </a:xfrm>
        </p:spPr>
        <p:txBody>
          <a:bodyPr>
            <a:normAutofit fontScale="90000"/>
          </a:bodyPr>
          <a:lstStyle/>
          <a:p>
            <a:r>
              <a:rPr lang="ru-RU" sz="4000" u="sng" dirty="0"/>
              <a:t>Что такое </a:t>
            </a:r>
            <a:r>
              <a:rPr lang="ru-RU" sz="4000" u="sng" dirty="0" err="1" smtClean="0"/>
              <a:t>фишинг</a:t>
            </a:r>
            <a:r>
              <a:rPr lang="ru-RU" sz="4000" u="sng" dirty="0" smtClean="0"/>
              <a:t>?</a:t>
            </a:r>
            <a:br>
              <a:rPr lang="ru-RU" sz="4000" u="sng" dirty="0" smtClean="0"/>
            </a:br>
            <a:r>
              <a:rPr lang="ru-RU" sz="2700" dirty="0"/>
              <a:t/>
            </a:r>
            <a:br>
              <a:rPr lang="ru-RU" sz="2700" dirty="0"/>
            </a:br>
            <a:r>
              <a:rPr lang="ru-RU" sz="2700" dirty="0" smtClean="0"/>
              <a:t>	</a:t>
            </a:r>
            <a:r>
              <a:rPr lang="ru-RU" sz="2200" dirty="0" err="1" smtClean="0"/>
              <a:t>Фишинг</a:t>
            </a:r>
            <a:r>
              <a:rPr lang="ru-RU" sz="2200" dirty="0"/>
              <a:t> — это вид интернет-мошенничества, при котором злоумышленник пытается выманить у жертвы личную информацию под видом официального запроса: логины, пароли, данные банковской карты, номера документов, коды подтверждения. Это делается обычно в форме письма, сообщения или даже звонка от доверенного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сервиса: банка, магазина, «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Госуслуг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курьера и так далее.</a:t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Фишинг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не взлом в прямом смысле, а одна из разновидностей социальной инженерии. Здесь не 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хакают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пароль прямым перебором или техническими средствами, а делают так, чтобы вы отдали его сами</a:t>
            </a:r>
            <a:r>
              <a:rPr lang="ru-RU" sz="2200" dirty="0" smtClean="0"/>
              <a:t>.</a:t>
            </a:r>
            <a:endParaRPr lang="ru-RU" sz="2200" dirty="0"/>
          </a:p>
        </p:txBody>
      </p:sp>
      <p:pic>
        <p:nvPicPr>
          <p:cNvPr id="2050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344" y="3667539"/>
            <a:ext cx="6584245" cy="294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1787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Виды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фишинга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Фишинг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не всегда какая-то примитивная ерунда. Некоторые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фишинговые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письма выглядят очень достоверно, а поддельные сайты копируют оригинал так точно, что заподозрить неладное почти невозможно, особенно если вы торопитесь, устали или просто не ждёте подвоха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Рассмотрим пару из них.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660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Почтовый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фишинг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Классика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жанра: письмо от «банка», «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госуслуг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«доставки», биржи» — со срочным сообщением о том, что ваш аккаунт заблокирован, нужно подтвердить данные, получить компенсацию, забрать посылку. Внутри письма — ссылка, ведущая на 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фейковый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сайт.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Например, вот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фишинговое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письмо, замаскированное под официальное уведомление от Межрайонного отдела судебных приставов Москвы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Фишинг: что это такое и как защититься от него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5716" y="3113589"/>
            <a:ext cx="5544273" cy="3611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193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Фишинг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 социальных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сетях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Вас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добавляет «друг» или пишет «знакомый». Это может быть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фейковая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страница, оформленная под реального человека. Он присылает ссылку, просит помощи, предлагает подработку или просто пишет: «Смотри, что нашёл» / «Это точно ты на фото/видео?»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Если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кликнуть по ссылке, можно попасть на поддельную страницу входа в 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соцсеть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Вводите логин и пароль — и всё, ваш аккаунт угнан. А иногда вместо ссылки присылают вредоносный файл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Фишинг: что это такое и как защититься от него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310359"/>
            <a:ext cx="6096000" cy="3301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6967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/>
            <a:r>
              <a:rPr lang="ru-RU" dirty="0" smtClean="0"/>
              <a:t>Как происходит </a:t>
            </a:r>
            <a:r>
              <a:rPr lang="ru-RU" dirty="0" err="1" smtClean="0"/>
              <a:t>фишинг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/>
              <a:t>Классическая </a:t>
            </a:r>
            <a:r>
              <a:rPr lang="ru-RU" dirty="0"/>
              <a:t>схема </a:t>
            </a:r>
            <a:r>
              <a:rPr lang="ru-RU" dirty="0" err="1"/>
              <a:t>фишинга</a:t>
            </a:r>
            <a:r>
              <a:rPr lang="ru-RU" dirty="0"/>
              <a:t> такая:</a:t>
            </a:r>
          </a:p>
          <a:p>
            <a:r>
              <a:rPr lang="ru-RU" dirty="0"/>
              <a:t>Вам приходит письмо, сообщение или уведомление — от </a:t>
            </a:r>
            <a:r>
              <a:rPr lang="ru-RU" dirty="0" err="1"/>
              <a:t>Сбера</a:t>
            </a:r>
            <a:r>
              <a:rPr lang="ru-RU" dirty="0"/>
              <a:t>, </a:t>
            </a:r>
            <a:r>
              <a:rPr lang="ru-RU" dirty="0" err="1"/>
              <a:t>Apple</a:t>
            </a:r>
            <a:r>
              <a:rPr lang="ru-RU" dirty="0"/>
              <a:t>, налоговой, Почты России, техподдержки, мамы, кого угодно ещё.</a:t>
            </a:r>
          </a:p>
          <a:p>
            <a:r>
              <a:rPr lang="ru-RU" dirty="0"/>
              <a:t>Внутри — срочное сообщение: «аккаунт заблокирован», «обнаружена подозрительная активность», «вам положена компенсация», «подтвердите личность» и так далее.</a:t>
            </a:r>
          </a:p>
          <a:p>
            <a:r>
              <a:rPr lang="ru-RU" dirty="0"/>
              <a:t>Есть кнопка или ссылка. По ней вы переходите на поддельный сайт, который, как правило, внешне полностью копирует оригинал.</a:t>
            </a:r>
          </a:p>
          <a:p>
            <a:r>
              <a:rPr lang="ru-RU" dirty="0"/>
              <a:t>Вводите логин, пароль, код из СМС — и всё это уходит злоумышленнику.</a:t>
            </a:r>
          </a:p>
          <a:p>
            <a:r>
              <a:rPr lang="ru-RU" dirty="0"/>
              <a:t>Через пару минут он заходит в ваш аккаунт и делает что хочет — переводит деньги, копирует переписки, скачивает фото. А иногда шантажирует вас или просто продаёт всё это в </a:t>
            </a:r>
            <a:r>
              <a:rPr lang="ru-RU" dirty="0" err="1"/>
              <a:t>даркнете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3407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продуманного </a:t>
            </a:r>
            <a:r>
              <a:rPr lang="ru-RU" dirty="0" err="1" smtClean="0"/>
              <a:t>фишинга</a:t>
            </a:r>
            <a:endParaRPr lang="ru-RU" dirty="0"/>
          </a:p>
        </p:txBody>
      </p:sp>
      <p:pic>
        <p:nvPicPr>
          <p:cNvPr id="5124" name="Picture 4" descr="Фишинг: что это такое и как защититься от него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841" y="1825625"/>
            <a:ext cx="901831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640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856527"/>
            <a:ext cx="10515600" cy="5320436"/>
          </a:xfrm>
        </p:spPr>
        <p:txBody>
          <a:bodyPr>
            <a:normAutofit fontScale="70000" lnSpcReduction="2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 первый взгляд всё норм — обычное письмо для подтверждения регистрации на 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Есть логотип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нейтральный стиль текста, кнопка верификации выглядит прилично, а внизу даже мелкий шрифт со ссылками, как у настоящих писем. Но если присмотреться, отправитель — GitHub@bigdogdomains.co, а не @github.com. Но-но-но, мистер Фиш!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делать, если вы обнаружили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фишинговое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письмо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 кликайте по ссылкам. Даже если любопытно — не надо.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 скачивайте вложения, особенно архивы и документы с макросами.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Проверьте отправителя и сравните адрес с официальными. Посмотрите в браузере адрес ссылки: наведите курсор — и увидите, куда она реально ведёт.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Сообщите в службу безопасности. У многих компаний есть форма «сообщить о 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фишинге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Удалите письмо.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3331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763929"/>
            <a:ext cx="10515600" cy="54130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 всё-таки кликнули по ссылке из письма — главное, не паникуйте и следуйте инструкции: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Отключитесь от интернета.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Отключите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 вытащите кабель — чтобы остановить возможную передачу данных.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Смените пароли.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Начните с почты, банков и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соцсетей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Меняйте везде, где этот же пароль мог использоваться. Для надёжности воспользуйтесь генератором паролей (например, встроенным в менеджер паролей или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1Password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Bitwarden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Проверьте устройство на вирусы.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Используйте антивирус или онлайн-сканеры. Например,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ESET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Online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Scanner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или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Kaspersky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Virus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Removal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Tool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Проверьте, не утекли ли данные.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Запустите сканирование цифрового следа:</a:t>
            </a:r>
          </a:p>
          <a:p>
            <a:pPr lvl="1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Have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 I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Been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Pwned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проверка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имейла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 паролей на утечки.</a:t>
            </a:r>
          </a:p>
          <a:p>
            <a:pPr lvl="1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Cybernews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Leak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Checker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сканирует, где уже всплыл ваш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имейл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Включите двухфакторную аутентификацию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прямо сейчас. Это может спасти в будущем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9513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2968283" cy="1600200"/>
          </a:xfrm>
        </p:spPr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фишинга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076446" y="2057400"/>
            <a:ext cx="6162747" cy="4945284"/>
          </a:xfrm>
        </p:spPr>
        <p:txBody>
          <a:bodyPr>
            <a:normAutofit/>
          </a:bodyPr>
          <a:lstStyle/>
          <a:p>
            <a:endParaRPr lang="ru-RU" dirty="0" smtClean="0"/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Кража</a:t>
            </a: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Шантаж</a:t>
            </a: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Месть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8" name="Picture 4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894" y="457200"/>
            <a:ext cx="7460567" cy="625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31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5412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Способы защиты от 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фишинговых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атак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00538"/>
            <a:ext cx="10515600" cy="4776425"/>
          </a:xfrm>
        </p:spPr>
        <p:txBody>
          <a:bodyPr>
            <a:normAutofit fontScale="55000" lnSpcReduction="20000"/>
          </a:bodyPr>
          <a:lstStyle/>
          <a:p>
            <a:r>
              <a:rPr lang="ru-RU" sz="3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Фишинг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не только письма с кнопкой «Подтвердите вход». Это звонки, СМС, сообщения в мессенджерах, </a:t>
            </a:r>
            <a:r>
              <a:rPr lang="ru-RU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фейковые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сайты и </a:t>
            </a:r>
            <a:r>
              <a:rPr lang="ru-RU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вайфай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 кофейне. Но принципы защиты везде одинаковы.</a:t>
            </a:r>
          </a:p>
          <a:p>
            <a:r>
              <a:rPr lang="ru-RU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Относитесь ко всему скептически. 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Любое сообщение, где от вас что-то срочно хотят (ввести данные, перейти по ссылке, открыть файл), — это повод задуматься. Даже если это «банк», «</a:t>
            </a:r>
            <a:r>
              <a:rPr lang="ru-RU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госуслуги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или «коллега».</a:t>
            </a:r>
          </a:p>
          <a:p>
            <a:r>
              <a:rPr lang="ru-RU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Проверяйте адрес, ссылку, дату создания аккаунта. 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Наведите курсор, загляните в URL, посмотрите, когда создан контакт. Если сомневаетесь — не кликайте.</a:t>
            </a:r>
          </a:p>
          <a:p>
            <a:r>
              <a:rPr lang="ru-RU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 паникуйте. 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Спешка — любимый инструмент </a:t>
            </a:r>
            <a:r>
              <a:rPr lang="ru-RU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фишеров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Атакующий торопит, чтобы вы не успели включить голову. Лучше потратить 30 секунд на проверку, чем 3 недели на восстановление.</a:t>
            </a:r>
          </a:p>
          <a:p>
            <a:r>
              <a:rPr lang="ru-RU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Никогда не вводите данные в неожиданных местах. 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Даже если сайт выглядит как настоящий, лучше зайдите на него заново через закладки или поисковик.</a:t>
            </a:r>
          </a:p>
          <a:p>
            <a:r>
              <a:rPr lang="ru-RU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 доверяйте публичным </a:t>
            </a:r>
            <a:r>
              <a:rPr lang="ru-RU" sz="3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Wi‑Fi</a:t>
            </a:r>
            <a:r>
              <a:rPr lang="ru-RU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 открытых сетях атакующий может подменить страницу входа в любой сервис. Лучше заходить через мобильный интернет или подключаться с VPN.</a:t>
            </a:r>
          </a:p>
          <a:p>
            <a:r>
              <a:rPr lang="ru-RU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Атаки могут быть и в голосовых звонках. 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 «служба безопасности банка» просит назвать код из СМС, сразу кладите трубку.</a:t>
            </a:r>
          </a:p>
          <a:p>
            <a:r>
              <a:rPr lang="ru-RU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Сообщайте о подозрительных письмах на работе.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Не пересылайте друзьям или коллегам со словами «прикинь, </a:t>
            </a:r>
            <a:r>
              <a:rPr lang="ru-RU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чё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пришло». Лучше сразу отправьте в ИБ компании или в поддержку сервиса, от имени которого пришло сообщение.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7441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антивирусов и фильтров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07940"/>
            <a:ext cx="10515600" cy="4869023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Бывает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 ссылка в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фишинговом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письме запускает вирус, троян,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эксплойт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Особенно если браузер ненадёжный, а ноутбук обновлялся последний раз в мезозой.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Веб-проект: делаем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браузерную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игру с динозавриком, как в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Chrome</a:t>
            </a:r>
            <a:endParaRPr lang="ru-RU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Поэтому важно, чтобы у вас был антивирус и встроенные фильтры. Они могут: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Отсеивать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фишинговые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сайты.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 большинства антивирусов и браузеров есть чёрные списки опасных доменов. Переходите по ссылке и вместо поддельного входа в банк получаете сообщение, что «доступ заблокирован».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Проверять вложения в письмах.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 если в архиве лежит какой-нибудь invoice.exe или .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 макросом, который очень хочет достучаться до сервера злоумышленника.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Блокировать скачивание вредоносных файлов.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Но если вы случайно нажали на «Скачать отчёт» в подозрительном письме, а там троян, который тихо сливает пароли, ничего страшного не случится. Главное — не запускайте и не открывайте эти файлы.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1789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895"/>
          </a:xfrm>
        </p:spPr>
        <p:txBody>
          <a:bodyPr>
            <a:normAutofit/>
          </a:bodyPr>
          <a:lstStyle/>
          <a:p>
            <a:pPr algn="ctr"/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Фишинговые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атаки и примеры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84790"/>
            <a:ext cx="10515600" cy="489217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 апреле 2025 года мошенники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запустили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фишинговый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сайт, который внешне полностью копирует ресурс Федеральной налоговой службы. Жертве предлагали «обязательный» налоговый вычет — всё официально, с логотипом, сроками, кнопкой. Чтобы получить выплату, предлагали оформить карту «Мир» через банкинг, который на самом деле был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фейком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Через пару дней тот же сайт переобувается — и вот он уже «Центр занятости» и обещает 37 276 рублей дополнительной помощи.</a:t>
            </a:r>
          </a:p>
        </p:txBody>
      </p:sp>
    </p:spTree>
    <p:extLst>
      <p:ext uri="{BB962C8B-B14F-4D97-AF65-F5344CB8AC3E}">
        <p14:creationId xmlns:p14="http://schemas.microsoft.com/office/powerpoint/2010/main" val="674165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443" y="555585"/>
            <a:ext cx="7541590" cy="555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27358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51</Words>
  <Application>Microsoft Office PowerPoint</Application>
  <PresentationFormat>Широкоэкранный</PresentationFormat>
  <Paragraphs>54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Что такое фишинг?   Фишинг — это вид интернет-мошенничества, при котором злоумышленник пытается выманить у жертвы личную информацию под видом официального запроса: логины, пароли, данные банковской карты, номера документов, коды подтверждения. Это делается обычно в форме письма, сообщения или даже звонка от доверенного сервиса: банка, магазина, «Госуслуг», курьера и так далее.  Фишинг — это не взлом в прямом смысле, а одна из разновидностей социальной инженерии. Здесь не хакают пароль прямым перебором или техническими средствами, а делают так, чтобы вы отдали его сами.</vt:lpstr>
      <vt:lpstr>       Виды фишинга:   Фишинг — это не всегда какая-то примитивная ерунда. Некоторые фишинговые письма выглядят очень достоверно, а поддельные сайты копируют оригинал так точно, что заподозрить неладное почти невозможно, особенно если вы торопитесь, устали или просто не ждёте подвоха. Рассмотрим пару из них.</vt:lpstr>
      <vt:lpstr>   Почтовый фишинг   Классика жанра: письмо от «банка», «госуслуг», «доставки», биржи» — со срочным сообщением о том, что ваш аккаунт заблокирован, нужно подтвердить данные, получить компенсацию, забрать посылку. Внутри письма — ссылка, ведущая на фейковый сайт. Например, вот фишинговое письмо, замаскированное под официальное уведомление от Межрайонного отдела судебных приставов Москвы:</vt:lpstr>
      <vt:lpstr>   Фишинг в социальных сетях   Вас добавляет «друг» или пишет «знакомый». Это может быть фейковая страница, оформленная под реального человека. Он присылает ссылку, просит помощи, предлагает подработку или просто пишет: «Смотри, что нашёл» / «Это точно ты на фото/видео?»  Если кликнуть по ссылке, можно попасть на поддельную страницу входа в соцсеть. Вводите логин и пароль — и всё, ваш аккаунт угнан. А иногда вместо ссылки присылают вредоносный файл:</vt:lpstr>
      <vt:lpstr>Как происходит фишинг</vt:lpstr>
      <vt:lpstr>Пример продуманного фишинга</vt:lpstr>
      <vt:lpstr>Презентация PowerPoint</vt:lpstr>
      <vt:lpstr>Презентация PowerPoint</vt:lpstr>
      <vt:lpstr>Цели фишинга:</vt:lpstr>
      <vt:lpstr>Способы защиты от фишинговых атак</vt:lpstr>
      <vt:lpstr>Использование антивирусов и фильтров</vt:lpstr>
      <vt:lpstr>Фишинговые атаки и примеры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Ф</dc:title>
  <dc:creator>Пользователь</dc:creator>
  <cp:lastModifiedBy>Пользователь</cp:lastModifiedBy>
  <cp:revision>5</cp:revision>
  <dcterms:created xsi:type="dcterms:W3CDTF">2025-11-23T15:21:28Z</dcterms:created>
  <dcterms:modified xsi:type="dcterms:W3CDTF">2025-11-23T19:18:47Z</dcterms:modified>
</cp:coreProperties>
</file>